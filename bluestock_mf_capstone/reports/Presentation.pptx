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Mutual Fund Industry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5B4FC"/>
                </a:solidFill>
                <a:latin typeface="Calibri"/>
              </a:rPr>
              <a:t>Capstone Project I — BlueStock Fintech Internship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017520"/>
            <a:ext cx="4572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👥 Team: Sai Sindhuja Ch · Sarvesh K Yadav · Ganga Damalathi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Calibri"/>
              </a:rPr>
              <a:t>📅 Submission: July 10, 2026   |   📊 Data: Jan 2020 – May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BlueStock Fintech · Batch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07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Project Overview &amp;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188720"/>
            <a:ext cx="41148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188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207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Data Architecture &amp; ETL Pipeline (D1, D2)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41148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03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214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Exploratory Data Analysis (D3)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103120"/>
            <a:ext cx="41148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103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1214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Fund Performance Analytics (D4)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17520"/>
            <a:ext cx="41148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017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358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VaR, CVaR &amp; Risk Metrics (D6)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3017520"/>
            <a:ext cx="41148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017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0358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Investor Cohort &amp; SIP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931920"/>
            <a:ext cx="41148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931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95020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Monte Carlo Simulation 5-Year Projection [B3]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931920"/>
            <a:ext cx="41148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3931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395020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Markowitz Efficient Frontier [B4]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846320"/>
            <a:ext cx="41148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846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6460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Dashboard &amp; Recommendations (D5, D7)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Project Overview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92024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5B4FC"/>
                </a:solidFill>
                <a:latin typeface="Calibri"/>
              </a:rPr>
              <a:t>Fund Schemes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188720"/>
            <a:ext cx="192024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1280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5B4FC"/>
                </a:solidFill>
                <a:latin typeface="Calibri"/>
              </a:rPr>
              <a:t>AMCs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192024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280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₹67.2L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5B4FC"/>
                </a:solidFill>
                <a:latin typeface="Calibri"/>
              </a:rPr>
              <a:t>Industry AUM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188720"/>
            <a:ext cx="192024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80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5B4FC"/>
                </a:solidFill>
                <a:latin typeface="Calibri"/>
              </a:rPr>
              <a:t>NAV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5603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✅  D1 ETL pipeline · D2 SQLite DB · D3 EDA notebook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154679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✅  D4 Performance metrics · D5 Dashboard · D6 Advanced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749039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✅  D7 Final report + slides · B2 Streamlit · B3 Monte Carlo · B4 Frontier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📦  Data: 10 CSV datasets →  cleaned → SQLite star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9377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🛠️  Stack: Python 3.11 · Pandas · SQLAlchemy · Streamlit · Plotly · SciPy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 Sources — 10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3657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13385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1556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Fund Master (40 rows)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Scheme metadata, risk grade, expense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2148839"/>
            <a:ext cx="3657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2185415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67127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NAV History (~50,000 rows)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048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Daily NAV per fund (5-year history)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200400"/>
            <a:ext cx="3657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323697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1868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AUM by Fund House (180 rows)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5643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Monthly AUM breakdown across 10 AMCs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251959"/>
            <a:ext cx="3657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428853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70247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Monthly SIP Inflows (60 rows)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0799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Industry SIP statistics 2020–2025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5303520"/>
            <a:ext cx="3657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534009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21807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Category Inflows (~300 rows)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55955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Net inflows by fund category per month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097280"/>
            <a:ext cx="3657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113385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111556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Folio Count (60 rows)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135331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Total industry folios (equity/debt/hybrid)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148839"/>
            <a:ext cx="3657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2185415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2167127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Scheme Performance (40 rows)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24048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Pre-computed Sharpe, Alpha, Beta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3200400"/>
            <a:ext cx="3657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23697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21868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Investor Transactions (~100,000 rows)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345643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SIP/Lumpsum/Redemption records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4251959"/>
            <a:ext cx="3657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428853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4270247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Portfolio Holdings (~500 rows)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450799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Stock-level holdings with sector weights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5303520"/>
            <a:ext cx="3657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34009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5321807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Benchmark Indices (~6,000 rows)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555955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NIFTY 50, NIFTY 500 daily OHLCV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ETL Pipeline Architecture (D1 + D2)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920240" cy="2560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📥 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Load 10 raw CSVs
Validate file existence
pathlib.Path — no hard-coded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39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097280"/>
            <a:ext cx="1920240" cy="2560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188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🔧 TRANSFORM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73736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Date parsing &amp; type coercion
Deduplication
NAV ffill() for weekends/holidays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97280"/>
            <a:ext cx="1920240" cy="2560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188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📤 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73736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Build dim_date table
Load 11 SQLite tables
SQLAlchemy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097280"/>
            <a:ext cx="1920240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188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📋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73736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Null/dup/AMFI stats
Data quality report
ETL log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Calibri"/>
              </a:rPr>
              <a:t>Key Design Principles: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✅ pathlib.Path (no absolute paths)   ✅ ffill() after reindex to business days   ✅ CAGR uses 252 trading days   ✅ Full try/except error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Exploratory Data Analysis — Key Findings (D3)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60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Calibri"/>
              </a:rPr>
              <a:t>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Calibri"/>
              </a:rPr>
              <a:t>SIP Tripled in 5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202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Monthly SIP inflows grew from ₹7,300 Cr (FY21) to ₹21,400 Cr (FY25) — a 3× increase driven by digital adoption.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1188720"/>
            <a:ext cx="4160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Calibri"/>
              </a:rPr>
              <a:t>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79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Calibri"/>
              </a:rPr>
              <a:t>Tier-1 City Dominance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68% of invested capital comes from Mumbai, Delhi, Bengaluru, Hyderabad, and Chennai — Tier-2/3 is an untapped market.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49039"/>
            <a:ext cx="4160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Calibri"/>
              </a:rPr>
              <a:t>⚖️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776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Calibri"/>
              </a:rPr>
              <a:t>Equity Leads AUM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480559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Equity funds hold 58% of AUM, up from 48% in 2020, reflecting bullish market sentiment and growing retail participation.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59" y="3749039"/>
            <a:ext cx="4160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Calibri"/>
              </a:rPr>
              <a:t>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79" y="39776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Calibri"/>
              </a:rPr>
              <a:t>Fund Universe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480559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40 schemes across 10 AMCs. Axis, HDFC, SBI, ICICI, and Kotak collectively hold 78% of total AUM in the universe.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Fund Performance Analytics (D4)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Top 5 Funds by Sharpe Ratio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658368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CAGR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Sharpe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Beta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658368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299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ABSL Liquid Fund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29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5.2%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029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3.21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029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0.04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14600"/>
            <a:ext cx="6583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243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ICICI Pru Liquid Fund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5.1%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6243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3.18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6243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0.03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658368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186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SBI Small Cap – Direct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2186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28.4%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2186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1.52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2186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0.82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03320"/>
            <a:ext cx="6583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8130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HDFC Top 100 – Direct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8130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21.2%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8130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1.42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8130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0.93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97680"/>
            <a:ext cx="658368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40740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Axis Midcap – Direct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407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24.7%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407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1.38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407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0.79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1097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Key Formulas Used: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1463040"/>
            <a:ext cx="192024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6600" y="1508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3A8A"/>
                </a:solidFill>
                <a:latin typeface="Calibri"/>
              </a:rPr>
              <a:t>CAGR = (NAV_end/NAV_start)^(252/days)−1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2331720"/>
            <a:ext cx="192024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23774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3A8A"/>
                </a:solidFill>
                <a:latin typeface="Calibri"/>
              </a:rPr>
              <a:t>Sharpe = (r−rf)/σ × √252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3200400"/>
            <a:ext cx="192024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86600" y="3246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3A8A"/>
                </a:solidFill>
                <a:latin typeface="Calibri"/>
              </a:rPr>
              <a:t>Beta = Cov(r,rm)/Var(rm)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80" y="4069079"/>
            <a:ext cx="192024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86600" y="4114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3A8A"/>
                </a:solidFill>
                <a:latin typeface="Calibri"/>
              </a:rPr>
              <a:t>Alpha = r−[rf+β(rm−rf)]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4937760"/>
            <a:ext cx="192024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86600" y="498347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3A8A"/>
                </a:solidFill>
                <a:latin typeface="Calibri"/>
              </a:rPr>
              <a:t>rf = 6.5%/252 daily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8463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2626"/>
                </a:solidFill>
                <a:latin typeface="Calibri"/>
              </a:rPr>
              <a:t>⚠️ Liquid funds rank highest by Sharpe due to near-zero volatility — not highest absolute return.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Sector Concentration — HHI Analysis (D6)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8A"/>
                </a:solidFill>
                <a:latin typeface="Calibri"/>
              </a:rPr>
              <a:t>HHI = Σ(sector_weight)²   |   HHI &gt; 2500 = Concentrated   |   HHI &lt; 1500 = Diversified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Axis Bluechip Fund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691640"/>
            <a:ext cx="4523232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6512" y="16916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2968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SBI Bluechip Fund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514600"/>
            <a:ext cx="3872484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55764" y="25146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2541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HDFC Top 100 Fund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3337560"/>
            <a:ext cx="3523488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6767" y="33375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2312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Axis Midcap Fund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4160520"/>
            <a:ext cx="27736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6959" y="4160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1820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UTI Mid Cap Fund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4983480"/>
            <a:ext cx="188976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3040" y="4983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1240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852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8A"/>
                </a:solidFill>
                <a:latin typeface="Calibri"/>
              </a:rPr>
              <a:t>💡 Large-cap 'blue chip' funds are paradoxically MORE concentrated (heavy BFSI/IT bets) than mid/small cap diversified funds.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Historical VaR 95% &amp; CVaR (Expected Shortfall)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VaR 95% = 5th percentile of daily returns  |  CVaR = Mean of returns ≤ VaR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859536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002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002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002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95% 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002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95% CVaR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93392"/>
            <a:ext cx="859536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993392"/>
            <a:ext cx="73152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Small 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148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SBI Small Cap Fund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1488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Calibri"/>
              </a:rPr>
              <a:t>–2.69%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1488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Calibri"/>
              </a:rPr>
              <a:t>–3.82%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06624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706624"/>
            <a:ext cx="73152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86207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Mid 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8620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Axis Midcap Fund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8620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Calibri"/>
              </a:rPr>
              <a:t>–2.21%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620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Calibri"/>
              </a:rPr>
              <a:t>–3.14%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419856"/>
            <a:ext cx="859536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419856"/>
            <a:ext cx="73152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57530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Large Cap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575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HDFC Top 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5753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Calibri"/>
              </a:rPr>
              <a:t>–1.74%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5753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Calibri"/>
              </a:rPr>
              <a:t>–2.48%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133087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133087"/>
            <a:ext cx="73152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28853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Hybrid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2885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ICICI Pru Balanced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2885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Calibri"/>
              </a:rPr>
              <a:t>–0.92%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885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Calibri"/>
              </a:rPr>
              <a:t>–1.31%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846320"/>
            <a:ext cx="859536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846320"/>
            <a:ext cx="73152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0017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Liquid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0017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ABSL Liquid Fund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0017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Calibri"/>
              </a:rPr>
              <a:t>–0.02%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017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Calibri"/>
              </a:rPr>
              <a:t>–0.03%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Investor Cohort Analysis (D6)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364103"/>
            <a:ext cx="1097280" cy="20789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04406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312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617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9377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Calibri"/>
              </a:rPr>
              <a:t>Avg SIP
₹8,240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3978296"/>
            <a:ext cx="1097280" cy="593703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36582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891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4617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9377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Calibri"/>
              </a:rPr>
              <a:t>Avg SIP
₹9,100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3341281"/>
            <a:ext cx="1097280" cy="123071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302124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1847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617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9377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Calibri"/>
              </a:rPr>
              <a:t>Avg SIP
₹10,200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2732919"/>
            <a:ext cx="1097280" cy="1839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4128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2760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617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9377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Calibri"/>
              </a:rPr>
              <a:t>Avg SIP
₹10,760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371600"/>
            <a:ext cx="1097280" cy="3200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1051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4803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617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9377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Calibri"/>
              </a:rPr>
              <a:t>Avg SIP
₹10,997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4440732"/>
            <a:ext cx="1097280" cy="131267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41206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197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617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2025*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9377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Calibri"/>
              </a:rPr>
              <a:t>Avg SIP
₹13,505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0749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New Investors per Cohort Year (bar height ∝ count)  |  *2025 data through May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0350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📌 2025 cohort: smallest count, highest avg SIP (₹13,505) → wealthier/more sophisticated new investors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SIP Continuity &amp; Churn Risk Analysis (D6)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Investors with ≥ 6 SIP transactions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1920240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1,362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5B4FC"/>
                </a:solidFill>
                <a:latin typeface="Calibri"/>
              </a:rPr>
              <a:t>Total Investors
(6+ SIPs)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554480"/>
            <a:ext cx="1920240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645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Active
(gap ≤ 35 days)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554480"/>
            <a:ext cx="192024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45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1,332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At-Risk
(gap &gt; 35 days)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1554480"/>
            <a:ext cx="192024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1645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97.8%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Churn Risk
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1089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Definition: avg_gap_days = mean(diff between consecutive SIP dates) for each investor.
Status 'at-risk' if avg_gap &gt; 35 days (standard monthly SIP = ~30 days).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0233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🚨 Critical: 97.8% churn risk rate signals systematic SIP mandate/payment execution failures.
   Even a 20% recovery = ₹50+ Cr additional annual SIP inflows.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0292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A8A"/>
                </a:solidFill>
                <a:latin typeface="Calibri"/>
              </a:rPr>
              <a:t>💡 Recommended Action: T+3 day SMS/push notification for missed SIP + automated mandate retry.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[B3] Monte Carlo Simulation — 5-Year NAV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Method: Geometric Brownian Motion (GBM)   |   1,000 simulation paths   |   1,260 trading days (5 years)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859536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5544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5544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Start NAV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5544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Bear (P5)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5544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Median (P50)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Bull (P95)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5544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Expected CAGR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38528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1031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SBI Small Cap – 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103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₹158.4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103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₹89.2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103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₹312.8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03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₹618.4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103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14.6%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51760"/>
            <a:ext cx="859536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8163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Axis Midcap – Direct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8163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₹98.7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8163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₹58.3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8163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₹187.4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8163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₹356.8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8163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13.7%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364992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958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HDFC Top 100 – Direct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5295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₹892.6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35295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₹562.4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5295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₹1,624.8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5295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₹2,958.3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5295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12.7%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078224"/>
            <a:ext cx="859536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42428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SBI Bluechip – Direct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42428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₹74.3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42428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₹46.8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2428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₹133.2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2428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₹238.9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42428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12.4%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791456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9560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ICICI Pru Bluechip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49560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₹102.8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49560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₹64.7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49560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₹183.6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9560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₹327.4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49560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12.3%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6692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⚠️ P5–P95 spread for equity funds is 3–5× → long holding period (≥5 years) essential to absorb volatility.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[B4] Markowitz Efficient Frontier — Portfolio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5 equity funds · 5,000 random portfolios · SciPy SLSQP optimiser · Risk-free rate: 6.5%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8595360" cy="1508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73152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Calibri"/>
              </a:rPr>
              <a:t>⭐ Max Sharpe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Return: 21.4%   |   Volatility: 13.8%   |   Sharpe: 1.11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Weights: Axis Midcap 31% · HDFC Top100 29% · SBI Small Cap 19%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00400"/>
            <a:ext cx="8595360" cy="1508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200400"/>
            <a:ext cx="73152" cy="1508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Calibri"/>
              </a:rPr>
              <a:t>🛡️ Min Variance 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Return: 17.8%   |   Volatility: 11.2%   |   Sharpe: 1.01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Weights: HDFC Top100 42% · SBI Bluechip 32% · ICICI Bluechip 13%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892040"/>
            <a:ext cx="8595360" cy="1508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892040"/>
            <a:ext cx="73152" cy="15087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Calibri"/>
              </a:rPr>
              <a:t>⚖️ Equal-Weight (Naive)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9495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Return: 19.3%   |   Volatility: 14.9%   |   Sharpe: 0.86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Weights: 20% each fund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83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Calibri"/>
              </a:rPr>
              <a:t>✅ Max Sharpe Portfolio achieves 29% higher Sharpe than equal-weight allocation.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60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64008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79" y="1325880"/>
            <a:ext cx="41148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4416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Calibri"/>
              </a:rPr>
              <a:t>MPT-Guided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Replace equal-weight defaults with Max Sharpe allocation. +29% Sharpe improvement.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59" y="1188720"/>
            <a:ext cx="4160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1188720"/>
            <a:ext cx="64008" cy="1645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325880"/>
            <a:ext cx="41148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34416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59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Calibri"/>
              </a:rPr>
              <a:t>SIP Nudge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1783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T+3 SMS/push for missed SIPs. 97.8% at-risk rate = ₹50+ Cr recoverable annual AUM.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17520"/>
            <a:ext cx="4160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017520"/>
            <a:ext cx="64008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79" y="3154679"/>
            <a:ext cx="4114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17296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Calibri"/>
              </a:rPr>
              <a:t>Tier-2/3 Expansion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611879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Only 10% of capital from Tier-3. Lower min SIP + vernacular campaigns = new TAM.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59" y="3017520"/>
            <a:ext cx="4160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9159" y="3017520"/>
            <a:ext cx="64008" cy="1645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46320" y="3154679"/>
            <a:ext cx="41148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317296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59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Calibri"/>
              </a:rPr>
              <a:t>Risk Suitability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3611879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First-time 2024 investors over-allocated to Small Cap (VaR –2.69%). Add onboarding guardrails.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846320"/>
            <a:ext cx="4160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846320"/>
            <a:ext cx="64008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79" y="4983480"/>
            <a:ext cx="4114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500176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Calibri"/>
              </a:rPr>
              <a:t>Monte Carlo Planning Tool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40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Integrate 5-year P5/P50/P95 projections into investor app to reduce premature redemptions.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5B4FC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657600"/>
            <a:ext cx="36576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Sai Sindhuja Ch · Sarvesh K Yadav · Ganga Damalathi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BlueStock Fintech Internship · Batch 2026 · July 10,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D1 ETL  ·  D2 SQLite  ·  D3 EDA  ·  D4 Performance  ·  D5 Dashboard  ·  D6 Analytics  ·  D7 Report  ·  B2 Streamlit  ·  B3 Monte Carlo  ·  B4 Frontier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